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417320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统一图谱 V2 阶段成果与范围建议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0848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5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——正式核心样板链已稳定，商业航天候选域已完成独立验证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25146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企业—能力—技术方向—产业环节统一底座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26517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657600"/>
            <a:ext cx="265176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822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正式核心域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87952"/>
            <a:ext cx="237744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光学检测 / 机器视觉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光通信 / 光模块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激光加工 / 光学装备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3657600"/>
            <a:ext cx="2286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3657600"/>
            <a:ext cx="228600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扩展候选域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4187952"/>
            <a:ext cx="201168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商业航天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3657600"/>
            <a:ext cx="2286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657600"/>
            <a:ext cx="228600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版本建议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187952"/>
            <a:ext cx="201168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采用 3+1+储备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0" y="3657600"/>
            <a:ext cx="2286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0" y="3657600"/>
            <a:ext cx="228600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52560" y="4187952"/>
            <a:ext cx="2011680" cy="704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主干可用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扩展可控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这次汇报重点回答三个问题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474720" cy="384048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347472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3200400" cy="321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统一图谱主干是否已经做实？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188720"/>
            <a:ext cx="3474720" cy="384048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188720"/>
            <a:ext cx="347472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1719072"/>
            <a:ext cx="3200400" cy="321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统一图谱是否已经具备解释链，而不只是标签库？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188720"/>
            <a:ext cx="3474720" cy="384048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188720"/>
            <a:ext cx="347472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3533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92440" y="1719072"/>
            <a:ext cx="3200400" cy="3218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商业航天是否应进入统一图谱 V2？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5321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今天不是讲“想做什么”，而是讲：已经做成了什么、验证到了哪一步、V2 该怎么拍板。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统一图谱 V2 建议采用分层范围治理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3566160" cy="438912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143000"/>
            <a:ext cx="356616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07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A层：正式核心域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3291840" cy="3767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光学检测 / 机器视觉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光通信 / 光模块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激光加工 / 光学装备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特点：主数据、结构、企业挂接、查询、解释链均已验证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143000"/>
            <a:ext cx="3291840" cy="438912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143000"/>
            <a:ext cx="329184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3075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B层：扩展候选域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3017520" cy="3767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商业航天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特点：候选主数据、候选关系、企业 patch、查询模板均已验证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但样本成熟度仍低于 A层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143000"/>
            <a:ext cx="3291840" cy="438912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143000"/>
            <a:ext cx="329184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3075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C层：研究储备域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92440" y="1673352"/>
            <a:ext cx="3017520" cy="3767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其他尚未形成稳定主数据与 patch 验证的新方向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不进入本轮正式建设范围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结论：V2 建议按“3+1+储备”推进，而不是继续平面扩张。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三条正式核心样板链已形成稳定主干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429000" cy="429768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342900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99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光学检测 / 机器视觉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315468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已完成主数据建模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已完成结构关系补齐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已完成企业挂接验证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已完成查询与解释链验证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234440"/>
            <a:ext cx="3429000" cy="429768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34440"/>
            <a:ext cx="342900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399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光通信 / 光模块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1764792"/>
            <a:ext cx="315468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已完成主数据建模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已完成结构关系补齐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已完成企业挂接验证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已完成查询与解释链验证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234440"/>
            <a:ext cx="3429000" cy="429768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234440"/>
            <a:ext cx="342900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399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激光加工 / 光学装备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1764792"/>
            <a:ext cx="315468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已完成主数据建模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已完成结构关系补齐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已完成企业挂接验证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已完成查询与解释链验证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5715000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统一图谱主干已经进入“可导入、可查询、可演示”的稳定状态。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当前统一图谱已经从企业库升级为结构化统一图谱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统一对象层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8288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25880"/>
            <a:ext cx="182880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90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856232"/>
            <a:ext cx="155448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企业本体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4640" y="1325880"/>
            <a:ext cx="164592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325880"/>
            <a:ext cx="164592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490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SubTrack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1856232"/>
            <a:ext cx="13716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子赛道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164592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25880"/>
            <a:ext cx="164592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90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ChainStage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1856232"/>
            <a:ext cx="13716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产业链环节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1325880"/>
            <a:ext cx="164592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325880"/>
            <a:ext cx="164592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490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KeyCapability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1856232"/>
            <a:ext cx="13716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1325880"/>
            <a:ext cx="164592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325880"/>
            <a:ext cx="164592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490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TechDirection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58200" y="1856232"/>
            <a:ext cx="137160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技术方向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149840" y="1325880"/>
            <a:ext cx="1371600" cy="1554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1325880"/>
            <a:ext cx="137160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1490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287000" y="1856232"/>
            <a:ext cx="1097280" cy="93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886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核心区别：现在查到的不只是“企业像什么”，而是“企业位于哪里、具备什么能力、能力由什么技术支撑”。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97280" y="4846320"/>
            <a:ext cx="9692640" cy="0"/>
          </a:xfrm>
          <a:prstGeom prst="line">
            <a:avLst/>
          </a:prstGeom>
          <a:noFill/>
          <a:ln w="12700">
            <a:solidFill>
              <a:srgbClr val="BFD2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4983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5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 →  关键能力  →  技术方向  →  产业环节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技术路线—能力—产业环节的解释链已经建立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8016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80160"/>
            <a:ext cx="246888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44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219456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-&gt; DERIVES_FROM -&gt; TechDirection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280160"/>
            <a:ext cx="246888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444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810512"/>
            <a:ext cx="219456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KeyCapability -&gt; SUPPORTED_BY -&gt; TechDirection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1280160"/>
            <a:ext cx="246888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280160"/>
            <a:ext cx="246888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4447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35040" y="1810512"/>
            <a:ext cx="219456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TechDirection -&gt; ENABLES_STAGE -&gt; ChainStage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58200" y="1280160"/>
            <a:ext cx="27432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1280160"/>
            <a:ext cx="2743200" cy="914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1444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0" y="1810512"/>
            <a:ext cx="24688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-&gt; HAS_KEY_CAPABILITY -&gt; KeyCapability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54480" y="3657600"/>
            <a:ext cx="1554480" cy="640080"/>
          </a:xfrm>
          <a:prstGeom prst="chevron">
            <a:avLst/>
          </a:prstGeom>
          <a:solidFill>
            <a:srgbClr val="EAF0FF"/>
          </a:solidFill>
          <a:ln w="12700">
            <a:solidFill>
              <a:srgbClr val="BFD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27632" y="379476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企业具备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高精度加工控制能力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29000" y="3657600"/>
            <a:ext cx="1554480" cy="640080"/>
          </a:xfrm>
          <a:prstGeom prst="chevron">
            <a:avLst/>
          </a:prstGeom>
          <a:solidFill>
            <a:srgbClr val="EAFBF7"/>
          </a:solidFill>
          <a:ln w="12700">
            <a:solidFill>
              <a:srgbClr val="BFEF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71246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精密驱动与微振动控制技术支撑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0" y="3657600"/>
            <a:ext cx="1737360" cy="640080"/>
          </a:xfrm>
          <a:prstGeom prst="chevron">
            <a:avLst/>
          </a:prstGeom>
          <a:solidFill>
            <a:srgbClr val="FFF3E8"/>
          </a:solidFill>
          <a:ln w="12700">
            <a:solidFill>
              <a:srgbClr val="FFD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3712464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振镜/加工头/执行单元等环节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60920" y="3657600"/>
            <a:ext cx="2926080" cy="640080"/>
          </a:xfrm>
          <a:prstGeom prst="chevron">
            <a:avLst/>
          </a:prstGeom>
          <a:solidFill>
            <a:srgbClr val="FFF9E8"/>
          </a:solidFill>
          <a:ln w="12700">
            <a:solidFill>
              <a:srgbClr val="F5E3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8221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推荐结果不再只是“词像”，而是具备结构化解释理由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当前主图谱查询能力已能支撑后续推荐基础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2743200" cy="4297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274320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99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已支持查询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246888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按子赛道看企业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按环节找企业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看某企业在产业链中的位置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从关键能力反查企业与环节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从场景反查环节与企业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94760" y="1234440"/>
            <a:ext cx="2743200" cy="4297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1234440"/>
            <a:ext cx="274320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399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意味着什么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1764792"/>
            <a:ext cx="246888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图谱不只用于展示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已开始支撑需求推荐基础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已开始支撑协同推荐基础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已开始支撑寻源匹配基础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12280" y="1234440"/>
            <a:ext cx="438912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234440"/>
            <a:ext cx="438912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399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0" y="1764792"/>
            <a:ext cx="411480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过去：只能看企业标签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现在：能看企业位于哪个环节、具备哪些能力、技术方向支撑哪些环节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这为后续推荐能力提供了真正的统一底座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商业航天已具备进入 V2 评审的基础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097280"/>
            <a:ext cx="3474720" cy="448056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097280"/>
            <a:ext cx="347472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200400" cy="3858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研究版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标准口径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候选主数据五件套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候选关系表五件套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patch 验证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候选企业 patch 验证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候选域查询模板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097280"/>
            <a:ext cx="3291840" cy="448056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097280"/>
            <a:ext cx="329184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618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已验证结果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1627632"/>
            <a:ext cx="3017520" cy="3858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SubTrack: 1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ChainStage: 10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KeyCapability: 8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ApplicationScenario: 8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TechDirection: 8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候选企业数: 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097280"/>
            <a:ext cx="3108960" cy="44805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097280"/>
            <a:ext cx="310896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2618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1627632"/>
            <a:ext cx="2834640" cy="3858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商业航天已经不是规划项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已完成独立候选域验证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可以进入 V2 范围评审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但当前成熟度仍低于正式核心域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商业航天建议纳入 V2，但不与三条正式样板链同成熟度并表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2926080" cy="420624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25880"/>
            <a:ext cx="292608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904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判断1：结构口径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56232"/>
            <a:ext cx="2651760" cy="358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基本稳定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个标准环节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个关键能力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个技术方向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69080" y="1325880"/>
            <a:ext cx="2926080" cy="420624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1325880"/>
            <a:ext cx="292608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4904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判断2：企业验证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1856232"/>
            <a:ext cx="2651760" cy="358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已有第一轮企业 patch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样本仍偏少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交叉企业边界仍需治理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1325880"/>
            <a:ext cx="3749040" cy="420624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1325880"/>
            <a:ext cx="374904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4904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建议定位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06640" y="1856232"/>
            <a:ext cx="3474720" cy="358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纳入统一图谱 V2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定位为：扩展候选域 / 候选正式域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不建议直接表述为“第四条成熟正式样板链”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7150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结论：建议纳入，但采用受控纳入，而不是完全等价并表。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统一图谱 V2 建议范围：3+1+储备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3383280" cy="42976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34440"/>
            <a:ext cx="338328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990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条正式核心域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764792"/>
            <a:ext cx="310896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光学检测 / 机器视觉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光通信 / 光模块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激光加工 / 光学装备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2743200" cy="4297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234440"/>
            <a:ext cx="274320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3990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条扩展候选域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1764792"/>
            <a:ext cx="246888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商业航天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52360" y="123444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1234440"/>
            <a:ext cx="374904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399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储备方向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89520" y="1764792"/>
            <a:ext cx="3474720" cy="367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其他尚未完成研究版、候选主数据、patch 验证的新方向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暂不进入本轮正式建设范围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68756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不是“再多加几个行业”，而是“正式主干稳定推进 + 候选扩展域受控试运行”。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下一阶段重点：从图谱建模转向产品化与评审化验证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3291840" cy="41148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25880"/>
            <a:ext cx="329184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904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正式主干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3017520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围绕三条正式核心域继续做产品化查询与推荐模板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291840" cy="41148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325880"/>
            <a:ext cx="329184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904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商业航天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1856232"/>
            <a:ext cx="3017520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继续补企业样本、候选域治理、版本治理说明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108960" cy="41148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25880"/>
            <a:ext cx="310896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4904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交付资产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1856232"/>
            <a:ext cx="2834640" cy="3493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把演示、评审、版本治理资产整理为可复用交付件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62356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下一步最值得做的，不是继续证明能不能建，而是基于已做成的主干进入更稳定的产品化验证。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最终建议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6446520"/>
            <a:ext cx="11292840" cy="0"/>
          </a:xfrm>
          <a:prstGeom prst="line">
            <a:avLst/>
          </a:prstGeom>
          <a:noFill/>
          <a:ln w="12700">
            <a:solidFill>
              <a:srgbClr val="D7D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0" y="647395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378440" cy="2057400"/>
          </a:xfrm>
          <a:prstGeom prst="roundRect">
            <a:avLst>
              <a:gd name="adj" fmla="val 3556"/>
            </a:avLst>
          </a:prstGeom>
          <a:solidFill>
            <a:srgbClr val="EEF4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20240"/>
            <a:ext cx="9646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建议统一图谱 V2 采用“3条正式核心域 + 1条商业航天扩展候选域 + 其他方向储备”的分层推进方式。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80160" y="4069080"/>
            <a:ext cx="25603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4069080"/>
            <a:ext cx="2560320" cy="9144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4233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正式核心域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4599432"/>
            <a:ext cx="2286000" cy="61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继续做深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4069080"/>
            <a:ext cx="25603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4069080"/>
            <a:ext cx="2560320" cy="91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4233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商业航天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4599432"/>
            <a:ext cx="2286000" cy="61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V2，但按候选正式域治理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4069080"/>
            <a:ext cx="25603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4069080"/>
            <a:ext cx="2560320" cy="9144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4233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其他方向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4599432"/>
            <a:ext cx="2286000" cy="612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继续储备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58064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A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“先把主干做稳，再把扩展做可控。”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统一图谱V2评审汇报</dc:title>
  <dc:subject>统一图谱V2评审汇报</dc:subject>
  <dc:creator>OpenClaw</dc:creator>
  <cp:lastModifiedBy>OpenClaw</cp:lastModifiedBy>
  <cp:revision>1</cp:revision>
  <dcterms:created xsi:type="dcterms:W3CDTF">2026-05-04T15:09:00Z</dcterms:created>
  <dcterms:modified xsi:type="dcterms:W3CDTF">2026-05-04T15:09:00Z</dcterms:modified>
</cp:coreProperties>
</file>